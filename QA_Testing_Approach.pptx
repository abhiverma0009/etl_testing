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STRATEGY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QA Approach — Moving Beyond ATOP Jumbo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52144"/>
            <a:ext cx="5989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ATOP Jumbo is retired — replaced by a purpose-built, in-house Python + web framework giving full control over coverage, reporting, and team visibility.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1810512"/>
            <a:ext cx="457200" cy="457200"/>
          </a:xfrm>
          <a:prstGeom prst="ellipse">
            <a:avLst/>
          </a:prstGeom>
          <a:solidFill>
            <a:srgbClr val="E4F3F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29384"/>
            <a:ext cx="219456" cy="2194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74904" y="1682496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06424" y="175564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Map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1106424" y="202996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every source/target and define column mappings + business rules — no hand-editing.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02920" y="2450592"/>
            <a:ext cx="457200" cy="457200"/>
          </a:xfrm>
          <a:prstGeom prst="ellipse">
            <a:avLst/>
          </a:prstGeom>
          <a:solidFill>
            <a:srgbClr val="E4F3F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2569464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" y="2322576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106424" y="239572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Scenarios &amp; Test Cases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1106424" y="267004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test cases into test scenarios; each case is a configurable validation hop.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2920" y="3090672"/>
            <a:ext cx="457200" cy="457200"/>
          </a:xfrm>
          <a:prstGeom prst="ellipse">
            <a:avLst/>
          </a:prstGeom>
          <a:solidFill>
            <a:srgbClr val="E4F3F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3209544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74904" y="2962656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1106424" y="303580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1106424" y="331012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one case, or a whole scenario sequentially, with live progress — from the app or CLI.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02920" y="3730752"/>
            <a:ext cx="457200" cy="457200"/>
          </a:xfrm>
          <a:prstGeom prst="ellipse">
            <a:avLst/>
          </a:prstGeom>
          <a:solidFill>
            <a:srgbClr val="E4F3F0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3849624"/>
            <a:ext cx="219456" cy="21945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74904" y="3602736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1106424" y="367588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1106424" y="395020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data-consistency checks + 2-phase report validation run automatically.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502920" y="4370832"/>
            <a:ext cx="457200" cy="457200"/>
          </a:xfrm>
          <a:prstGeom prst="ellipse">
            <a:avLst/>
          </a:prstGeom>
          <a:solidFill>
            <a:srgbClr val="E4F3F0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4489704"/>
            <a:ext cx="219456" cy="219456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74904" y="4242816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8" name="Text 21"/>
          <p:cNvSpPr/>
          <p:nvPr/>
        </p:nvSpPr>
        <p:spPr>
          <a:xfrm>
            <a:off x="1106424" y="431596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&amp; Sign Off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1106424" y="459028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Pass-rate trends, new-vs-recurring failures, and evidence drill-down per run.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502920" y="5010912"/>
            <a:ext cx="457200" cy="457200"/>
          </a:xfrm>
          <a:prstGeom prst="ellipse">
            <a:avLst/>
          </a:prstGeom>
          <a:solidFill>
            <a:srgbClr val="E4F3F0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5129784"/>
            <a:ext cx="219456" cy="21945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74904" y="4882896"/>
            <a:ext cx="274320" cy="274320"/>
          </a:xfrm>
          <a:prstGeom prst="ellipse">
            <a:avLst/>
          </a:prstGeom>
          <a:solidFill>
            <a:srgbClr val="13294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1106424" y="4956048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1106424" y="5230368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Data-quality failures notify the team in Teams automatically.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903720" y="118872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COVERAGE</a:t>
            </a:r>
            <a:endParaRPr lang="en-US" sz="1150" dirty="0"/>
          </a:p>
        </p:txBody>
      </p:sp>
      <p:sp>
        <p:nvSpPr>
          <p:cNvPr id="36" name="Shape 28"/>
          <p:cNvSpPr/>
          <p:nvPr/>
        </p:nvSpPr>
        <p:spPr>
          <a:xfrm>
            <a:off x="6903720" y="1572768"/>
            <a:ext cx="2395728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7104888" y="177393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14250" y="1883298"/>
            <a:ext cx="201900" cy="201900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7086600" y="232257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Data</a:t>
            </a:r>
            <a:endParaRPr lang="en-US" sz="1250" dirty="0"/>
          </a:p>
        </p:txBody>
      </p:sp>
      <p:sp>
        <p:nvSpPr>
          <p:cNvPr id="40" name="Text 31"/>
          <p:cNvSpPr/>
          <p:nvPr/>
        </p:nvSpPr>
        <p:spPr>
          <a:xfrm>
            <a:off x="7086600" y="2615184"/>
            <a:ext cx="2029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Point-in-time immutability vs a prior-quarter baseline snapshot — nothing already loaded is allowed to change.</a:t>
            </a:r>
            <a:endParaRPr lang="en-US" sz="970" dirty="0"/>
          </a:p>
        </p:txBody>
      </p:sp>
      <p:sp>
        <p:nvSpPr>
          <p:cNvPr id="41" name="Shape 32"/>
          <p:cNvSpPr/>
          <p:nvPr/>
        </p:nvSpPr>
        <p:spPr>
          <a:xfrm>
            <a:off x="9482328" y="1572768"/>
            <a:ext cx="2395728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9683496" y="177393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792858" y="1883298"/>
            <a:ext cx="201900" cy="201900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9665208" y="232257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Loads</a:t>
            </a:r>
            <a:endParaRPr lang="en-US" sz="1250" dirty="0"/>
          </a:p>
        </p:txBody>
      </p:sp>
      <p:sp>
        <p:nvSpPr>
          <p:cNvPr id="45" name="Text 35"/>
          <p:cNvSpPr/>
          <p:nvPr/>
        </p:nvSpPr>
        <p:spPr>
          <a:xfrm>
            <a:off x="9665208" y="2615184"/>
            <a:ext cx="2029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Delta-load checks: only approved columns update, no unexpected deletes between loads.</a:t>
            </a:r>
            <a:endParaRPr lang="en-US" sz="970" dirty="0"/>
          </a:p>
        </p:txBody>
      </p:sp>
      <p:sp>
        <p:nvSpPr>
          <p:cNvPr id="46" name="Shape 36"/>
          <p:cNvSpPr/>
          <p:nvPr/>
        </p:nvSpPr>
        <p:spPr>
          <a:xfrm>
            <a:off x="6903720" y="3721608"/>
            <a:ext cx="2395728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7104888" y="392277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14250" y="4032138"/>
            <a:ext cx="201900" cy="201900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7086600" y="447141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Testing</a:t>
            </a:r>
            <a:endParaRPr lang="en-US" sz="1250" dirty="0"/>
          </a:p>
        </p:txBody>
      </p:sp>
      <p:sp>
        <p:nvSpPr>
          <p:cNvPr id="50" name="Text 39"/>
          <p:cNvSpPr/>
          <p:nvPr/>
        </p:nvSpPr>
        <p:spPr>
          <a:xfrm>
            <a:off x="7086600" y="4764024"/>
            <a:ext cx="2029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GVC / MD&amp;A: Phase 1 structure gate, then Phase 2 row + measure validation, Snowflake vs legacy.</a:t>
            </a:r>
            <a:endParaRPr lang="en-US" sz="970" dirty="0"/>
          </a:p>
        </p:txBody>
      </p:sp>
      <p:sp>
        <p:nvSpPr>
          <p:cNvPr id="51" name="Shape 40"/>
          <p:cNvSpPr/>
          <p:nvPr/>
        </p:nvSpPr>
        <p:spPr>
          <a:xfrm>
            <a:off x="9482328" y="3721608"/>
            <a:ext cx="2395728" cy="1965960"/>
          </a:xfrm>
          <a:prstGeom prst="roundRect">
            <a:avLst>
              <a:gd name="adj" fmla="val 418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52" name="Shape 41"/>
          <p:cNvSpPr/>
          <p:nvPr/>
        </p:nvSpPr>
        <p:spPr>
          <a:xfrm>
            <a:off x="9683496" y="3922776"/>
            <a:ext cx="420624" cy="42062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92858" y="4032138"/>
            <a:ext cx="201900" cy="201900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9665208" y="4471416"/>
            <a:ext cx="20299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</a:t>
            </a:r>
            <a:endParaRPr lang="en-US" sz="1250" dirty="0"/>
          </a:p>
        </p:txBody>
      </p:sp>
      <p:sp>
        <p:nvSpPr>
          <p:cNvPr id="55" name="Text 43"/>
          <p:cNvSpPr/>
          <p:nvPr/>
        </p:nvSpPr>
        <p:spPr>
          <a:xfrm>
            <a:off x="9665208" y="4764024"/>
            <a:ext cx="2029968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Completeness, null-handling, dedup &amp; reconciliation across curated Gold tables, always-on.</a:t>
            </a:r>
            <a:endParaRPr lang="en-US" sz="970" dirty="0"/>
          </a:p>
        </p:txBody>
      </p:sp>
      <p:sp>
        <p:nvSpPr>
          <p:cNvPr id="56" name="Shape 44"/>
          <p:cNvSpPr/>
          <p:nvPr/>
        </p:nvSpPr>
        <p:spPr>
          <a:xfrm>
            <a:off x="502920" y="5806440"/>
            <a:ext cx="11155680" cy="621792"/>
          </a:xfrm>
          <a:prstGeom prst="roundRect">
            <a:avLst>
              <a:gd name="adj" fmla="val 11765"/>
            </a:avLst>
          </a:prstGeom>
          <a:solidFill>
            <a:srgbClr val="13294B"/>
          </a:solidFill>
          <a:ln/>
        </p:spPr>
      </p:sp>
      <p:sp>
        <p:nvSpPr>
          <p:cNvPr id="57" name="Text 45"/>
          <p:cNvSpPr/>
          <p:nvPr/>
        </p:nvSpPr>
        <p:spPr>
          <a:xfrm>
            <a:off x="777240" y="5806440"/>
            <a:ext cx="10698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it's more reliable:  </a:t>
            </a:r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pandas comparison drives every pass/fail — AI drafts SQL &amp; test-case content for human review, but never decides a result.</a:t>
            </a:r>
            <a:endParaRPr lang="en-US" sz="1150" dirty="0"/>
          </a:p>
        </p:txBody>
      </p:sp>
      <p:sp>
        <p:nvSpPr>
          <p:cNvPr id="58" name="Text 46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Carlyle ValDB → Snowflake Migration  ·  QA Testing Approach</a:t>
            </a:r>
            <a:endParaRPr lang="en-US" sz="900" dirty="0"/>
          </a:p>
        </p:txBody>
      </p:sp>
      <p:sp>
        <p:nvSpPr>
          <p:cNvPr id="59" name="Text 47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ETL Test Console — What the QA Team Built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Next.js control-plane app over a reusable Python engine — replaces terminal-only scripts and ATOP configuration entirely.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02920" y="1755648"/>
            <a:ext cx="3685032" cy="1481328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93852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5652" y="2038380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61288" y="1920240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85800" y="2414016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source &amp; target (Access, Snowflake, files) managed centrally; secrets never leave .env.</a:t>
            </a:r>
            <a:endParaRPr lang="en-US" sz="960" dirty="0"/>
          </a:p>
        </p:txBody>
      </p:sp>
      <p:sp>
        <p:nvSpPr>
          <p:cNvPr id="10" name="Shape 7"/>
          <p:cNvSpPr/>
          <p:nvPr/>
        </p:nvSpPr>
        <p:spPr>
          <a:xfrm>
            <a:off x="4242816" y="1755648"/>
            <a:ext cx="3685032" cy="1481328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25696" y="193852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5548" y="2038380"/>
            <a:ext cx="184343" cy="18434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901184" y="1920240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Suites (Test Cases)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4425696" y="2414016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validation hops — 15 check categories, business rules, referential integrity.</a:t>
            </a:r>
            <a:endParaRPr lang="en-US" sz="960" dirty="0"/>
          </a:p>
        </p:txBody>
      </p:sp>
      <p:sp>
        <p:nvSpPr>
          <p:cNvPr id="15" name="Shape 11"/>
          <p:cNvSpPr/>
          <p:nvPr/>
        </p:nvSpPr>
        <p:spPr>
          <a:xfrm>
            <a:off x="7982712" y="1755648"/>
            <a:ext cx="3685032" cy="1481328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165592" y="1938528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5444" y="2038380"/>
            <a:ext cx="184343" cy="18434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41080" y="1920240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165592" y="2414016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test cases; run an entire scenario sequentially with one click and a live rollup.</a:t>
            </a:r>
            <a:endParaRPr lang="en-US" sz="960" dirty="0"/>
          </a:p>
        </p:txBody>
      </p:sp>
      <p:sp>
        <p:nvSpPr>
          <p:cNvPr id="20" name="Shape 15"/>
          <p:cNvSpPr/>
          <p:nvPr/>
        </p:nvSpPr>
        <p:spPr>
          <a:xfrm>
            <a:off x="502920" y="3364992"/>
            <a:ext cx="3685032" cy="1481328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5800" y="35478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652" y="3647724"/>
            <a:ext cx="184343" cy="18434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161288" y="3529584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Mappings &amp; Rules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685800" y="4023360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Table/column mappings and business rules edited as forms — no hand-edited YAML.</a:t>
            </a:r>
            <a:endParaRPr lang="en-US" sz="960" dirty="0"/>
          </a:p>
        </p:txBody>
      </p:sp>
      <p:sp>
        <p:nvSpPr>
          <p:cNvPr id="25" name="Shape 19"/>
          <p:cNvSpPr/>
          <p:nvPr/>
        </p:nvSpPr>
        <p:spPr>
          <a:xfrm>
            <a:off x="4242816" y="3364992"/>
            <a:ext cx="3685032" cy="1481328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425696" y="35478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548" y="3647724"/>
            <a:ext cx="184343" cy="184343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01184" y="3529584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Testing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4425696" y="4023360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GVC / MD&amp;A tabs: structure gate + data/measure checks, Snowflake vs legacy Access.</a:t>
            </a:r>
            <a:endParaRPr lang="en-US" sz="960" dirty="0"/>
          </a:p>
        </p:txBody>
      </p:sp>
      <p:sp>
        <p:nvSpPr>
          <p:cNvPr id="30" name="Shape 23"/>
          <p:cNvSpPr/>
          <p:nvPr/>
        </p:nvSpPr>
        <p:spPr>
          <a:xfrm>
            <a:off x="7982712" y="3364992"/>
            <a:ext cx="3685032" cy="1481328"/>
          </a:xfrm>
          <a:prstGeom prst="roundRect">
            <a:avLst>
              <a:gd name="adj" fmla="val 5556"/>
            </a:avLst>
          </a:prstGeom>
          <a:solidFill>
            <a:srgbClr val="EEF2F8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8165592" y="3547872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5444" y="3647724"/>
            <a:ext cx="184343" cy="184343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641080" y="3529584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250" dirty="0"/>
          </a:p>
        </p:txBody>
      </p:sp>
      <p:sp>
        <p:nvSpPr>
          <p:cNvPr id="34" name="Text 26"/>
          <p:cNvSpPr/>
          <p:nvPr/>
        </p:nvSpPr>
        <p:spPr>
          <a:xfrm>
            <a:off x="8165592" y="4023360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Per-run dashboard: pass-rate trend, new vs. recurring failures, evidence drill-down.</a:t>
            </a:r>
            <a:endParaRPr lang="en-US" sz="960" dirty="0"/>
          </a:p>
        </p:txBody>
      </p:sp>
      <p:sp>
        <p:nvSpPr>
          <p:cNvPr id="35" name="Shape 27"/>
          <p:cNvSpPr/>
          <p:nvPr/>
        </p:nvSpPr>
        <p:spPr>
          <a:xfrm>
            <a:off x="502920" y="4974336"/>
            <a:ext cx="3685032" cy="1481328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85800" y="515721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5652" y="5257068"/>
            <a:ext cx="184343" cy="184343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1161288" y="5138928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Alerts</a:t>
            </a:r>
            <a:endParaRPr lang="en-US" sz="1250" dirty="0"/>
          </a:p>
        </p:txBody>
      </p:sp>
      <p:sp>
        <p:nvSpPr>
          <p:cNvPr id="39" name="Text 30"/>
          <p:cNvSpPr/>
          <p:nvPr/>
        </p:nvSpPr>
        <p:spPr>
          <a:xfrm>
            <a:off x="685800" y="563270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Teams notification via Power Automate the moment quality rules trip.</a:t>
            </a:r>
            <a:endParaRPr lang="en-US" sz="960" dirty="0"/>
          </a:p>
        </p:txBody>
      </p:sp>
      <p:sp>
        <p:nvSpPr>
          <p:cNvPr id="40" name="Shape 31"/>
          <p:cNvSpPr/>
          <p:nvPr/>
        </p:nvSpPr>
        <p:spPr>
          <a:xfrm>
            <a:off x="4242816" y="4974336"/>
            <a:ext cx="3685032" cy="1481328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4425696" y="515721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25548" y="5257068"/>
            <a:ext cx="184343" cy="184343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4901184" y="5138928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Collaboration</a:t>
            </a:r>
            <a:endParaRPr lang="en-US" sz="1250" dirty="0"/>
          </a:p>
        </p:txBody>
      </p:sp>
      <p:sp>
        <p:nvSpPr>
          <p:cNvPr id="44" name="Text 34"/>
          <p:cNvSpPr/>
          <p:nvPr/>
        </p:nvSpPr>
        <p:spPr>
          <a:xfrm>
            <a:off x="4425696" y="563270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run history across the QA team via OneDrive — everyone sees every run.</a:t>
            </a:r>
            <a:endParaRPr lang="en-US" sz="960" dirty="0"/>
          </a:p>
        </p:txBody>
      </p:sp>
      <p:sp>
        <p:nvSpPr>
          <p:cNvPr id="45" name="Shape 35"/>
          <p:cNvSpPr/>
          <p:nvPr/>
        </p:nvSpPr>
        <p:spPr>
          <a:xfrm>
            <a:off x="7982712" y="4974336"/>
            <a:ext cx="3685032" cy="1481328"/>
          </a:xfrm>
          <a:prstGeom prst="roundRect">
            <a:avLst>
              <a:gd name="adj" fmla="val 5556"/>
            </a:avLst>
          </a:prstGeom>
          <a:solidFill>
            <a:srgbClr val="F5F7FA"/>
          </a:solidFill>
          <a:ln/>
          <a:effectLst>
            <a:outerShdw sx="100000" sy="100000" kx="0" ky="0" algn="bl" rotWithShape="0" blurRad="101600" dist="38100" dir="5400000">
              <a:srgbClr val="1B2A4A">
                <a:alpha val="10000"/>
              </a:srgbClr>
            </a:outerShdw>
          </a:effectLst>
        </p:spPr>
      </p:sp>
      <p:sp>
        <p:nvSpPr>
          <p:cNvPr id="46" name="Shape 36"/>
          <p:cNvSpPr/>
          <p:nvPr/>
        </p:nvSpPr>
        <p:spPr>
          <a:xfrm>
            <a:off x="8165592" y="5157216"/>
            <a:ext cx="384048" cy="38404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65444" y="5257068"/>
            <a:ext cx="184343" cy="184343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8641080" y="5138928"/>
            <a:ext cx="28620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Runs</a:t>
            </a:r>
            <a:endParaRPr lang="en-US" sz="1250" dirty="0"/>
          </a:p>
        </p:txBody>
      </p:sp>
      <p:sp>
        <p:nvSpPr>
          <p:cNvPr id="49" name="Text 38"/>
          <p:cNvSpPr/>
          <p:nvPr/>
        </p:nvSpPr>
        <p:spPr>
          <a:xfrm>
            <a:off x="8165592" y="5632704"/>
            <a:ext cx="3319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9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validation runs unattended at quarter-end + 6 days via Task Scheduler.</a:t>
            </a:r>
            <a:endParaRPr lang="en-US" sz="960" dirty="0"/>
          </a:p>
        </p:txBody>
      </p:sp>
      <p:sp>
        <p:nvSpPr>
          <p:cNvPr id="50" name="Text 39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Carlyle ValDB → Snowflake Migration  ·  QA Testing Approach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926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 &amp; ROADMAP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02920" y="530352"/>
            <a:ext cx="11155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329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Outcomes for QA — and What's Next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DELIVERABLES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600200"/>
            <a:ext cx="219456" cy="219456"/>
          </a:xfrm>
          <a:prstGeom prst="ellipse">
            <a:avLst/>
          </a:prstGeom>
          <a:solidFill>
            <a:srgbClr val="E4F3F0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58191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41248" y="1499616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framework covering every migration hop (ValDB, GPE, Global Credit, AlpInvest → Snowflake)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58568"/>
            <a:ext cx="219456" cy="219456"/>
          </a:xfrm>
          <a:prstGeom prst="ellipse">
            <a:avLst/>
          </a:prstGeom>
          <a:solidFill>
            <a:srgbClr val="E4F3F0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240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41248" y="2157984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&amp; incremental load coverage with baseline-snapshot comparisons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2916936"/>
            <a:ext cx="219456" cy="219456"/>
          </a:xfrm>
          <a:prstGeom prst="ellipse">
            <a:avLst/>
          </a:prstGeom>
          <a:solidFill>
            <a:srgbClr val="E4F3F0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8986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41248" y="2816352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GVC / MD&amp;A report sign-off packages (structure + data validated per tab)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02920" y="3575304"/>
            <a:ext cx="219456" cy="219456"/>
          </a:xfrm>
          <a:prstGeom prst="ellipse">
            <a:avLst/>
          </a:prstGeom>
          <a:solidFill>
            <a:srgbClr val="E4F3F0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355701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3474720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data-quality alerting wired into Teams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02920" y="4233672"/>
            <a:ext cx="219456" cy="219456"/>
          </a:xfrm>
          <a:prstGeom prst="ellipse">
            <a:avLst/>
          </a:prstGeom>
          <a:solidFill>
            <a:srgbClr val="E4F3F0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421538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41248" y="4133088"/>
            <a:ext cx="5212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single, team-shared, auditable run history — no more scattered local results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5065776"/>
            <a:ext cx="1755648" cy="960120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515721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594360" y="561441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check</a:t>
            </a:r>
            <a:endParaRPr lang="en-US" sz="8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2386584" y="5065776"/>
            <a:ext cx="1755648" cy="960120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</p:sp>
      <p:sp>
        <p:nvSpPr>
          <p:cNvPr id="24" name="Text 22"/>
          <p:cNvSpPr/>
          <p:nvPr/>
        </p:nvSpPr>
        <p:spPr>
          <a:xfrm>
            <a:off x="2386584" y="515721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2-Phase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2478024" y="561441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validation</a:t>
            </a:r>
            <a:endParaRPr lang="en-US" sz="8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(structure + data)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270248" y="5065776"/>
            <a:ext cx="1755648" cy="960120"/>
          </a:xfrm>
          <a:prstGeom prst="roundRect">
            <a:avLst>
              <a:gd name="adj" fmla="val 9524"/>
            </a:avLst>
          </a:prstGeom>
          <a:solidFill>
            <a:srgbClr val="13294B"/>
          </a:solidFill>
          <a:ln/>
        </p:spPr>
      </p:sp>
      <p:sp>
        <p:nvSpPr>
          <p:cNvPr id="27" name="Text 25"/>
          <p:cNvSpPr/>
          <p:nvPr/>
        </p:nvSpPr>
        <p:spPr>
          <a:xfrm>
            <a:off x="4270248" y="5157216"/>
            <a:ext cx="17556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4361688" y="5614416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terminal</a:t>
            </a:r>
            <a:endParaRPr lang="en-US" sz="86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86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required</a:t>
            </a:r>
            <a:endParaRPr lang="en-US" sz="860" dirty="0"/>
          </a:p>
        </p:txBody>
      </p:sp>
      <p:sp>
        <p:nvSpPr>
          <p:cNvPr id="29" name="Text 27"/>
          <p:cNvSpPr/>
          <p:nvPr/>
        </p:nvSpPr>
        <p:spPr>
          <a:xfrm>
            <a:off x="6263640" y="1170432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PHASED ROADMAP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83096" y="2029968"/>
            <a:ext cx="0" cy="749808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63640" y="1591056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7757" y="1705173"/>
            <a:ext cx="210678" cy="21067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867144" y="153619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Build   </a:t>
            </a:r>
            <a:pPr indent="0" marL="0">
              <a:buNone/>
            </a:pPr>
            <a:r>
              <a:rPr lang="en-US" sz="870" b="1" spc="100" kern="0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67144" y="1865376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engine: connectors, 15 validators, mapping/business-rule model.</a:t>
            </a:r>
            <a:endParaRPr lang="en-US" sz="1020" dirty="0"/>
          </a:p>
        </p:txBody>
      </p:sp>
      <p:sp>
        <p:nvSpPr>
          <p:cNvPr id="35" name="Shape 32"/>
          <p:cNvSpPr/>
          <p:nvPr/>
        </p:nvSpPr>
        <p:spPr>
          <a:xfrm>
            <a:off x="6483096" y="2871216"/>
            <a:ext cx="0" cy="749808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6263640" y="243230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77757" y="2546421"/>
            <a:ext cx="210678" cy="210678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6867144" y="23774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+ Report Testing   </a:t>
            </a:r>
            <a:pPr indent="0" marL="0">
              <a:buNone/>
            </a:pPr>
            <a:r>
              <a:rPr lang="en-US" sz="870" b="1" spc="100" kern="0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6867144" y="27066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app, Command Center, GVC/MD&amp;A 2-phase validation, scheduling.</a:t>
            </a:r>
            <a:endParaRPr lang="en-US" sz="1020" dirty="0"/>
          </a:p>
        </p:txBody>
      </p:sp>
      <p:sp>
        <p:nvSpPr>
          <p:cNvPr id="40" name="Shape 36"/>
          <p:cNvSpPr/>
          <p:nvPr/>
        </p:nvSpPr>
        <p:spPr>
          <a:xfrm>
            <a:off x="6483096" y="3712464"/>
            <a:ext cx="0" cy="859536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263640" y="3273552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7757" y="3387669"/>
            <a:ext cx="210678" cy="210678"/>
          </a:xfrm>
          <a:prstGeom prst="rect">
            <a:avLst/>
          </a:prstGeom>
        </p:spPr>
      </p:pic>
      <p:sp>
        <p:nvSpPr>
          <p:cNvPr id="43" name="Text 38"/>
          <p:cNvSpPr/>
          <p:nvPr/>
        </p:nvSpPr>
        <p:spPr>
          <a:xfrm>
            <a:off x="6867144" y="321868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Scenarios &amp; Team Rollout   </a:t>
            </a:r>
            <a:pPr indent="0" marL="0">
              <a:buNone/>
            </a:pPr>
            <a:r>
              <a:rPr lang="en-US" sz="870" b="1" spc="100" kern="0" dirty="0">
                <a:solidFill>
                  <a:srgbClr val="1E8A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1300" dirty="0"/>
          </a:p>
        </p:txBody>
      </p:sp>
      <p:sp>
        <p:nvSpPr>
          <p:cNvPr id="44" name="Text 39"/>
          <p:cNvSpPr/>
          <p:nvPr/>
        </p:nvSpPr>
        <p:spPr>
          <a:xfrm>
            <a:off x="6867144" y="3547872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Test-scenario grouping, batch runs, shared team run history &amp; alerting.</a:t>
            </a:r>
            <a:endParaRPr lang="en-US" sz="1020" dirty="0"/>
          </a:p>
        </p:txBody>
      </p:sp>
      <p:sp>
        <p:nvSpPr>
          <p:cNvPr id="45" name="Shape 40"/>
          <p:cNvSpPr/>
          <p:nvPr/>
        </p:nvSpPr>
        <p:spPr>
          <a:xfrm>
            <a:off x="6483096" y="4663440"/>
            <a:ext cx="0" cy="859536"/>
          </a:xfrm>
          <a:prstGeom prst="line">
            <a:avLst/>
          </a:prstGeom>
          <a:noFill/>
          <a:ln w="19050">
            <a:solidFill>
              <a:srgbClr val="D7DEE8"/>
            </a:solidFill>
            <a:prstDash val="solid"/>
          </a:ln>
        </p:spPr>
      </p:sp>
      <p:sp>
        <p:nvSpPr>
          <p:cNvPr id="46" name="Shape 41"/>
          <p:cNvSpPr/>
          <p:nvPr/>
        </p:nvSpPr>
        <p:spPr>
          <a:xfrm>
            <a:off x="6263640" y="4224528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77757" y="4338645"/>
            <a:ext cx="210678" cy="210678"/>
          </a:xfrm>
          <a:prstGeom prst="rect">
            <a:avLst/>
          </a:prstGeom>
        </p:spPr>
      </p:pic>
      <p:sp>
        <p:nvSpPr>
          <p:cNvPr id="48" name="Text 42"/>
          <p:cNvSpPr/>
          <p:nvPr/>
        </p:nvSpPr>
        <p:spPr>
          <a:xfrm>
            <a:off x="6867144" y="416966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Data Onboarding   </a:t>
            </a:r>
            <a:pPr indent="0" marL="0">
              <a:buNone/>
            </a:pPr>
            <a:r>
              <a:rPr lang="en-US" sz="870" b="1" spc="100" kern="0" dirty="0">
                <a:solidFill>
                  <a:srgbClr val="3D5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300" dirty="0"/>
          </a:p>
        </p:txBody>
      </p:sp>
      <p:sp>
        <p:nvSpPr>
          <p:cNvPr id="49" name="Text 43"/>
          <p:cNvSpPr/>
          <p:nvPr/>
        </p:nvSpPr>
        <p:spPr>
          <a:xfrm>
            <a:off x="6867144" y="4498848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live Snowflake/Access systems; populate real GVC/MD&amp;A report SQL.</a:t>
            </a:r>
            <a:endParaRPr lang="en-US" sz="1020" dirty="0"/>
          </a:p>
        </p:txBody>
      </p:sp>
      <p:sp>
        <p:nvSpPr>
          <p:cNvPr id="50" name="Shape 44"/>
          <p:cNvSpPr/>
          <p:nvPr/>
        </p:nvSpPr>
        <p:spPr>
          <a:xfrm>
            <a:off x="6263640" y="5175504"/>
            <a:ext cx="438912" cy="43891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77757" y="5289621"/>
            <a:ext cx="210678" cy="210678"/>
          </a:xfrm>
          <a:prstGeom prst="rect">
            <a:avLst/>
          </a:prstGeom>
        </p:spPr>
      </p:pic>
      <p:sp>
        <p:nvSpPr>
          <p:cNvPr id="52" name="Text 45"/>
          <p:cNvSpPr/>
          <p:nvPr/>
        </p:nvSpPr>
        <p:spPr>
          <a:xfrm>
            <a:off x="6867144" y="512064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Regression &amp; Sign-off   </a:t>
            </a:r>
            <a:pPr indent="0" marL="0">
              <a:buNone/>
            </a:pPr>
            <a:r>
              <a:rPr lang="en-US" sz="870" b="1" spc="1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</a:t>
            </a:r>
            <a:endParaRPr lang="en-US" sz="1300" dirty="0"/>
          </a:p>
        </p:txBody>
      </p:sp>
      <p:sp>
        <p:nvSpPr>
          <p:cNvPr id="53" name="Text 46"/>
          <p:cNvSpPr/>
          <p:nvPr/>
        </p:nvSpPr>
        <p:spPr>
          <a:xfrm>
            <a:off x="6867144" y="5449824"/>
            <a:ext cx="4846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regression across all scenarios; formal sign-off for cutover.</a:t>
            </a:r>
            <a:endParaRPr lang="en-US" sz="1020" dirty="0"/>
          </a:p>
        </p:txBody>
      </p:sp>
      <p:sp>
        <p:nvSpPr>
          <p:cNvPr id="54" name="Text 47"/>
          <p:cNvSpPr/>
          <p:nvPr/>
        </p:nvSpPr>
        <p:spPr>
          <a:xfrm>
            <a:off x="50292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Carlyle ValDB → Snowflake Migration  ·  QA Testing Approach</a:t>
            </a:r>
            <a:endParaRPr lang="en-US" sz="900" dirty="0"/>
          </a:p>
        </p:txBody>
      </p:sp>
      <p:sp>
        <p:nvSpPr>
          <p:cNvPr id="55" name="Text 48"/>
          <p:cNvSpPr/>
          <p:nvPr/>
        </p:nvSpPr>
        <p:spPr>
          <a:xfrm>
            <a:off x="11201400" y="647395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ETL Migration Testing Approach</dc:title>
  <dc:subject>PptxGenJS Presentation</dc:subject>
  <dc:creator>QA Team</dc:creator>
  <cp:lastModifiedBy>QA Team</cp:lastModifiedBy>
  <cp:revision>1</cp:revision>
  <dcterms:created xsi:type="dcterms:W3CDTF">2026-07-07T02:48:44Z</dcterms:created>
  <dcterms:modified xsi:type="dcterms:W3CDTF">2026-07-07T02:48:44Z</dcterms:modified>
</cp:coreProperties>
</file>